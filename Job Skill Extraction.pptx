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uja Holkar" userId="11fb5b41f8a0a450" providerId="LiveId" clId="{2827E895-BD70-43B0-AB03-79F71CF93F52}"/>
    <pc:docChg chg="custSel modSld">
      <pc:chgData name="Tanuja Holkar" userId="11fb5b41f8a0a450" providerId="LiveId" clId="{2827E895-BD70-43B0-AB03-79F71CF93F52}" dt="2026-09-07T21:15:05.228" v="0" actId="478"/>
      <pc:docMkLst>
        <pc:docMk/>
      </pc:docMkLst>
      <pc:sldChg chg="delSp mod">
        <pc:chgData name="Tanuja Holkar" userId="11fb5b41f8a0a450" providerId="LiveId" clId="{2827E895-BD70-43B0-AB03-79F71CF93F52}" dt="2026-09-07T21:15:05.228" v="0" actId="478"/>
        <pc:sldMkLst>
          <pc:docMk/>
          <pc:sldMk cId="0" sldId="266"/>
        </pc:sldMkLst>
        <pc:spChg chg="del">
          <ac:chgData name="Tanuja Holkar" userId="11fb5b41f8a0a450" providerId="LiveId" clId="{2827E895-BD70-43B0-AB03-79F71CF93F52}" dt="2026-09-07T21:15:05.228" v="0" actId="478"/>
          <ac:spMkLst>
            <pc:docMk/>
            <pc:sldMk cId="0" sldId="26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890A5-9CC6-4F00-9EE7-C0FF4597D127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3AAFC-644D-4D3F-B2FB-B867B46A48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766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3AAFC-644D-4D3F-B2FB-B867B46A48F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819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3AAFC-644D-4D3F-B2FB-B867B46A48F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69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3AAFC-644D-4D3F-B2FB-B867B46A48F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350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3AAFC-644D-4D3F-B2FB-B867B46A48F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97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1" y="0"/>
            <a:ext cx="12191695" cy="6858000"/>
          </a:xfrm>
          <a:prstGeom prst="rect">
            <a:avLst/>
          </a:prstGeom>
          <a:solidFill>
            <a:srgbClr val="16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94360"/>
            <a:ext cx="704088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JOB DESCRIPTION</a:t>
            </a:r>
            <a:br/>
            <a:r>
              <a:t>SKILL EXTRACTION USING</a:t>
            </a:r>
            <a:br/>
            <a:r>
              <a:t>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8801" y="2343537"/>
            <a:ext cx="681308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CE4F0"/>
                </a:solidFill>
                <a:latin typeface="Aptos"/>
              </a:defRPr>
            </a:pPr>
            <a:r>
              <a:rPr dirty="0"/>
              <a:t>NLP, Machine Learning, Analytics and Application Development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60520"/>
            <a:ext cx="1115568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4246880"/>
            <a:ext cx="1042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30" b="1">
                <a:solidFill>
                  <a:srgbClr val="162034"/>
                </a:solidFill>
                <a:latin typeface="Aptos"/>
              </a:defRPr>
            </a:pPr>
            <a:r>
              <a:t>JOB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4270248"/>
            <a:ext cx="2011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160520"/>
            <a:ext cx="1115568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48256" y="4261104"/>
            <a:ext cx="1042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30" b="1">
                <a:solidFill>
                  <a:srgbClr val="162034"/>
                </a:solidFill>
                <a:latin typeface="Aptos"/>
              </a:defRPr>
            </a:pPr>
            <a:r>
              <a:t>NLP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4270248"/>
            <a:ext cx="2011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4160520"/>
            <a:ext cx="1115568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74136" y="4261104"/>
            <a:ext cx="1042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30" b="1">
                <a:solidFill>
                  <a:srgbClr val="162034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4270248"/>
            <a:ext cx="2011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160520"/>
            <a:ext cx="1115568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0016" y="4261104"/>
            <a:ext cx="1042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30" b="1">
                <a:solidFill>
                  <a:srgbClr val="162034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7" y="4270248"/>
            <a:ext cx="2011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160520"/>
            <a:ext cx="1115568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25896" y="4261104"/>
            <a:ext cx="10424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30" b="1">
                <a:solidFill>
                  <a:srgbClr val="162034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685800"/>
            <a:ext cx="3934090" cy="2536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PROJECT PROFILE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Natural Language Processing (NLP) &amp; Skill Extraction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Primary dataset: raw_jobs</a:t>
            </a:r>
            <a:r>
              <a:rPr lang="en-US" dirty="0"/>
              <a:t>_2500_records</a:t>
            </a:r>
            <a:r>
              <a:rPr dirty="0"/>
              <a:t>.csv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Analytics: Microsoft Power BI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Application: Web-based Skill Extraction System</a:t>
            </a:r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Frontend: </a:t>
            </a:r>
            <a:r>
              <a:rPr lang="en-US" dirty="0"/>
              <a:t>Streamlit</a:t>
            </a:r>
            <a:endParaRPr dirty="0"/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Backend: </a:t>
            </a:r>
            <a:r>
              <a:rPr lang="en-US" dirty="0"/>
              <a:t>Python</a:t>
            </a:r>
            <a:endParaRPr dirty="0"/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Deployment: </a:t>
            </a:r>
            <a:r>
              <a:rPr lang="en-US" dirty="0"/>
              <a:t>GitHub + Streamlit Community Cloud</a:t>
            </a:r>
            <a:endParaRPr dirty="0"/>
          </a:p>
          <a:p>
            <a:pPr>
              <a:spcAft>
                <a:spcPts val="7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Duration: 19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20777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BECADC"/>
                </a:solidFill>
                <a:latin typeface="Aptos"/>
              </a:defRPr>
            </a:pPr>
            <a:r>
              <a:rPr lang="en-US" dirty="0"/>
              <a:t>Presented By  - Tanuja Holkar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84" y="7874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6" y="430276"/>
            <a:ext cx="42438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rPr sz="2800" dirty="0"/>
              <a:t>PROBL</a:t>
            </a:r>
            <a:r>
              <a:rPr lang="en-US" sz="2800" dirty="0"/>
              <a:t>EM STATEMENT</a:t>
            </a:r>
            <a:endParaRPr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Turning unstructured job text into structured, usable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508760"/>
            <a:ext cx="3200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Unstructured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74519"/>
            <a:ext cx="3200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Technical information is embedded inside long job descriptions.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606040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697480"/>
            <a:ext cx="3200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Manual 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063240"/>
            <a:ext cx="3200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Identifying skills repeatedly is time-consuming and difficult to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9476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3886200"/>
            <a:ext cx="3200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Standardization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251960"/>
            <a:ext cx="3200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Synonyms, variants and formatting differences create inconsistency.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8348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4983480"/>
            <a:ext cx="54864" cy="91440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5074920"/>
            <a:ext cx="3200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Analytics barrier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4406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Raw text is harder to aggregate, categorize and analyze.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1417320"/>
            <a:ext cx="6461760" cy="1103366"/>
          </a:xfrm>
          <a:prstGeom prst="round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rPr lang="en-US" dirty="0"/>
              <a:t>Why Job Skill Extraction is Needed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417320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94033" y="2944368"/>
            <a:ext cx="1847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2034"/>
                </a:solidFill>
                <a:latin typeface="Aptos"/>
              </a:defRPr>
            </a:pP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5349240" y="3401568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</a:defRPr>
            </a:pP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349240" y="4315968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</a:defRPr>
            </a:pP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5394032" y="4773168"/>
            <a:ext cx="18473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2034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39" name="Rounded Rectangle 8">
            <a:extLst>
              <a:ext uri="{FF2B5EF4-FFF2-40B4-BE49-F238E27FC236}">
                <a16:creationId xmlns:a16="http://schemas.microsoft.com/office/drawing/2014/main" id="{8AB34245-8E9D-B732-88BA-58E307A54A22}"/>
              </a:ext>
            </a:extLst>
          </p:cNvPr>
          <p:cNvSpPr/>
          <p:nvPr/>
        </p:nvSpPr>
        <p:spPr>
          <a:xfrm>
            <a:off x="5578764" y="2808229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1. Helps to reduce the manual efforts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41" name="Rounded Rectangle 8">
            <a:extLst>
              <a:ext uri="{FF2B5EF4-FFF2-40B4-BE49-F238E27FC236}">
                <a16:creationId xmlns:a16="http://schemas.microsoft.com/office/drawing/2014/main" id="{3780DACF-EB5B-4925-ACA3-6598259CC2BA}"/>
              </a:ext>
            </a:extLst>
          </p:cNvPr>
          <p:cNvSpPr/>
          <p:nvPr/>
        </p:nvSpPr>
        <p:spPr>
          <a:xfrm>
            <a:off x="5578764" y="4108460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Helps recruiters to identify quickly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E6222F66-DF14-3B37-7BE2-644ED58B5382}"/>
              </a:ext>
            </a:extLst>
          </p:cNvPr>
          <p:cNvSpPr/>
          <p:nvPr/>
        </p:nvSpPr>
        <p:spPr>
          <a:xfrm>
            <a:off x="5578764" y="5343281"/>
            <a:ext cx="3474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3. Enables skill normalization, categorization and further analysis</a:t>
            </a:r>
            <a:endParaRPr sz="1400" dirty="0">
              <a:solidFill>
                <a:sysClr val="windowText" lastClr="0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78B5256-74D0-09A2-E9F0-A973720D9998}"/>
              </a:ext>
            </a:extLst>
          </p:cNvPr>
          <p:cNvSpPr/>
          <p:nvPr/>
        </p:nvSpPr>
        <p:spPr>
          <a:xfrm>
            <a:off x="5550408" y="2870850"/>
            <a:ext cx="45719" cy="949323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01D9647-CEFF-0565-B4D7-112C0ABD9A68}"/>
              </a:ext>
            </a:extLst>
          </p:cNvPr>
          <p:cNvSpPr/>
          <p:nvPr/>
        </p:nvSpPr>
        <p:spPr>
          <a:xfrm>
            <a:off x="5547715" y="4171724"/>
            <a:ext cx="45719" cy="969249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24E2678-E5DB-2F57-9ECE-C4780D21A869}"/>
              </a:ext>
            </a:extLst>
          </p:cNvPr>
          <p:cNvSpPr/>
          <p:nvPr/>
        </p:nvSpPr>
        <p:spPr>
          <a:xfrm>
            <a:off x="5518758" y="5386329"/>
            <a:ext cx="45719" cy="969249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BUSINESS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Where Can the System Be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0930128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45719" cy="57150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508760"/>
            <a:ext cx="83208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rPr sz="1600" dirty="0"/>
              <a:t>01</a:t>
            </a:r>
            <a:r>
              <a:rPr lang="en-IN" sz="1600" dirty="0"/>
              <a:t>  Recruitment &amp; HR Description – Quickly identify required skills from job descriptions</a:t>
            </a:r>
            <a:endParaRPr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543560" y="2208276"/>
            <a:ext cx="10935208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3720" y="2242566"/>
            <a:ext cx="54864" cy="5943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12924"/>
            <a:ext cx="58718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rPr sz="1600" dirty="0"/>
              <a:t>02  </a:t>
            </a:r>
            <a:r>
              <a:rPr lang="en-US" sz="1600" dirty="0"/>
              <a:t>Job Portls -  Extract and standardize skills from job posting</a:t>
            </a:r>
            <a:endParaRPr sz="1600" dirty="0"/>
          </a:p>
        </p:txBody>
      </p:sp>
      <p:sp>
        <p:nvSpPr>
          <p:cNvPr id="16" name="Rounded Rectangle 15"/>
          <p:cNvSpPr/>
          <p:nvPr/>
        </p:nvSpPr>
        <p:spPr>
          <a:xfrm>
            <a:off x="581152" y="3039364"/>
            <a:ext cx="10897616" cy="5715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 flipH="1">
            <a:off x="563878" y="3055366"/>
            <a:ext cx="45719" cy="57150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0720" y="3020568"/>
            <a:ext cx="65962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rPr sz="1600" dirty="0"/>
              <a:t>03  </a:t>
            </a:r>
            <a:r>
              <a:rPr lang="en-US" sz="1600" dirty="0"/>
              <a:t>Resume Screening – Compare required skills with candidate skills</a:t>
            </a:r>
            <a:endParaRPr sz="1600" dirty="0"/>
          </a:p>
        </p:txBody>
      </p:sp>
      <p:sp>
        <p:nvSpPr>
          <p:cNvPr id="20" name="Rounded Rectangle 19"/>
          <p:cNvSpPr/>
          <p:nvPr/>
        </p:nvSpPr>
        <p:spPr>
          <a:xfrm>
            <a:off x="563878" y="3869563"/>
            <a:ext cx="10914890" cy="56642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502920" y="3882899"/>
            <a:ext cx="54864" cy="5943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76072" y="4701160"/>
            <a:ext cx="10881360" cy="6480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  05 Career &amp; Learning Platform – Recommend skill/courses based on job requirement</a:t>
            </a:r>
            <a:endParaRPr sz="16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22223" y="4710175"/>
            <a:ext cx="45719" cy="5943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6BFD47-406F-D795-2EDA-E687081BA0B6}"/>
              </a:ext>
            </a:extLst>
          </p:cNvPr>
          <p:cNvSpPr txBox="1"/>
          <p:nvPr/>
        </p:nvSpPr>
        <p:spPr>
          <a:xfrm>
            <a:off x="713232" y="3907703"/>
            <a:ext cx="6398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04 Skill Gap Analysis – Identify missing skills for a particular job role</a:t>
            </a:r>
            <a:endParaRPr lang="en-IN" sz="1600" b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Dataset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28321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rPr dirty="0"/>
              <a:t>Starting from </a:t>
            </a:r>
            <a:r>
              <a:rPr lang="en-US" dirty="0"/>
              <a:t>2525</a:t>
            </a:r>
            <a:r>
              <a:rPr dirty="0"/>
              <a:t> raw job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298448"/>
            <a:ext cx="15087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389888"/>
            <a:ext cx="100540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8C2"/>
                </a:solidFill>
                <a:latin typeface="Aptos"/>
              </a:defRPr>
            </a:pPr>
            <a:r>
              <a:rPr lang="en-US" dirty="0"/>
              <a:t>2525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1234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67080"/>
                </a:solidFill>
                <a:latin typeface="Aptos"/>
              </a:defRPr>
            </a:pPr>
            <a:r>
              <a:t>Initial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98448"/>
            <a:ext cx="15087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389888"/>
            <a:ext cx="5950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8C2"/>
                </a:solidFill>
                <a:latin typeface="Aptos"/>
              </a:defRPr>
            </a:pPr>
            <a:r>
              <a:rPr lang="en-US" dirty="0"/>
              <a:t>12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1234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67080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298448"/>
            <a:ext cx="15087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389888"/>
            <a:ext cx="100540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8C2"/>
                </a:solidFill>
                <a:latin typeface="Aptos"/>
              </a:defRPr>
            </a:pPr>
            <a:r>
              <a:rPr lang="en-US" dirty="0"/>
              <a:t>2500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97844" y="1947672"/>
            <a:ext cx="1234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67080"/>
                </a:solidFill>
                <a:latin typeface="Aptos"/>
              </a:defRPr>
            </a:pPr>
            <a:r>
              <a:rPr dirty="0"/>
              <a:t>Working / EDA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1298448"/>
            <a:ext cx="1508760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78440" y="1389888"/>
            <a:ext cx="5950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8C2"/>
                </a:solidFill>
                <a:latin typeface="Aptos"/>
              </a:defRPr>
            </a:pPr>
            <a:r>
              <a:rPr lang="en-US" dirty="0"/>
              <a:t>30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0378440" y="1920240"/>
            <a:ext cx="1234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67080"/>
                </a:solidFill>
                <a:latin typeface="Aptos"/>
              </a:defRPr>
            </a:pPr>
            <a:r>
              <a:t>Unique job titles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141732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1417320"/>
            <a:ext cx="54864" cy="452628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150876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Dataset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1874519"/>
            <a:ext cx="2603598" cy="2680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dirty="0"/>
              <a:t>job_id</a:t>
            </a:r>
            <a:r>
              <a:rPr lang="en-US" dirty="0"/>
              <a:t> </a:t>
            </a:r>
            <a:r>
              <a:rPr dirty="0"/>
              <a:t>— Unique job identifier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dirty="0"/>
              <a:t>job_titl</a:t>
            </a:r>
            <a:r>
              <a:rPr lang="en-US" dirty="0"/>
              <a:t>e  </a:t>
            </a:r>
            <a:r>
              <a:rPr dirty="0"/>
              <a:t>— Job role/title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dirty="0"/>
              <a:t>company — Company name</a:t>
            </a:r>
            <a:endParaRPr lang="en-US" dirty="0"/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lang="en-IN" dirty="0"/>
              <a:t>Company — Unique Company- Id </a:t>
            </a:r>
            <a:endParaRPr dirty="0"/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dirty="0"/>
              <a:t>location — Job location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dirty="0"/>
              <a:t>job_description</a:t>
            </a:r>
            <a:r>
              <a:rPr lang="en-US" dirty="0"/>
              <a:t> </a:t>
            </a:r>
            <a:r>
              <a:rPr dirty="0"/>
              <a:t>— Main NLP text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dirty="0"/>
              <a:t>experience — Experience requirement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dirty="0"/>
              <a:t>education — Education requirement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dirty="0"/>
              <a:t>salary — Salary information</a:t>
            </a:r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dirty="0"/>
              <a:t>job_typ</a:t>
            </a:r>
            <a:r>
              <a:rPr lang="en-US" dirty="0"/>
              <a:t>e</a:t>
            </a:r>
            <a:r>
              <a:rPr dirty="0"/>
              <a:t> — Type of employment</a:t>
            </a:r>
            <a:endParaRPr lang="en-US" dirty="0"/>
          </a:p>
          <a:p>
            <a:pPr>
              <a:spcAft>
                <a:spcPts val="500"/>
              </a:spcAft>
              <a:defRPr sz="1150">
                <a:solidFill>
                  <a:srgbClr val="232A34"/>
                </a:solidFill>
                <a:latin typeface="Aptos"/>
              </a:defRPr>
            </a:pPr>
            <a:r>
              <a:rPr lang="en-IN" dirty="0"/>
              <a:t>Keywords — Keypoints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4389120" y="2697480"/>
            <a:ext cx="7178040" cy="320040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2880360"/>
            <a:ext cx="6720840" cy="2834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t>SCREENSHOT PLACEHOLDER</a:t>
            </a:r>
            <a:br/>
            <a:r>
              <a:t>INSERT ORIGINAL DATASET INSPECTION SCREENSHOT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989320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67080"/>
                </a:solidFill>
                <a:latin typeface="Aptos"/>
              </a:defRPr>
            </a:pPr>
            <a:r>
              <a:t>Evidence: head / shape / columns / missing values / duplicate inspection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818DCB8-C0C0-5FFF-CEB8-F2216B610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697480"/>
            <a:ext cx="7178040" cy="31865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5146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Data Cleaning &amp; Text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Removing noise before NLP and skill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78683"/>
            <a:ext cx="2392082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01. Remove URLs / Link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56575" y="2302764"/>
            <a:ext cx="184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B68C2"/>
                </a:solidFill>
                <a:latin typeface="Aptos"/>
              </a:defRPr>
            </a:pP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782891" y="3827781"/>
            <a:ext cx="3407038" cy="370232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Remove Unwanted Noise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93472" y="1371600"/>
            <a:ext cx="5782359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48056" y="1353312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7595" y="1423068"/>
            <a:ext cx="5623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rPr dirty="0"/>
              <a:t>Why cleaning matters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221" y="1778510"/>
            <a:ext cx="56235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rPr dirty="0"/>
              <a:t>It reduces irrelevant tokens and makes descriptions more consistent for downstream extraction and modeling.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90448" y="2693227"/>
            <a:ext cx="237379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02. Remove Email Id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097874" y="4412299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797687" y="1307694"/>
            <a:ext cx="3403713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Data Inspection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38970" y="4391565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05672" y="2743200"/>
            <a:ext cx="18473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endParaRPr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B6EB196-4F0F-3951-4922-2B720802EA7A}"/>
              </a:ext>
            </a:extLst>
          </p:cNvPr>
          <p:cNvSpPr/>
          <p:nvPr/>
        </p:nvSpPr>
        <p:spPr>
          <a:xfrm>
            <a:off x="3152738" y="2714536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56AC868-D817-2CA2-0FD5-536B2174999B}"/>
              </a:ext>
            </a:extLst>
          </p:cNvPr>
          <p:cNvSpPr/>
          <p:nvPr/>
        </p:nvSpPr>
        <p:spPr>
          <a:xfrm>
            <a:off x="429201" y="2743200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14">
            <a:extLst>
              <a:ext uri="{FF2B5EF4-FFF2-40B4-BE49-F238E27FC236}">
                <a16:creationId xmlns:a16="http://schemas.microsoft.com/office/drawing/2014/main" id="{C3001A13-4BA5-AB08-26CB-402256402FC3}"/>
              </a:ext>
            </a:extLst>
          </p:cNvPr>
          <p:cNvSpPr/>
          <p:nvPr/>
        </p:nvSpPr>
        <p:spPr>
          <a:xfrm>
            <a:off x="502920" y="4302569"/>
            <a:ext cx="2392082" cy="1143001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03. Remove Special characters</a:t>
            </a:r>
          </a:p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67" name="Rounded Rectangle 14">
            <a:extLst>
              <a:ext uri="{FF2B5EF4-FFF2-40B4-BE49-F238E27FC236}">
                <a16:creationId xmlns:a16="http://schemas.microsoft.com/office/drawing/2014/main" id="{D619DCE6-203A-53E6-1705-B5F000978380}"/>
              </a:ext>
            </a:extLst>
          </p:cNvPr>
          <p:cNvSpPr/>
          <p:nvPr/>
        </p:nvSpPr>
        <p:spPr>
          <a:xfrm>
            <a:off x="3152738" y="4320858"/>
            <a:ext cx="2392082" cy="1143001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04. Remove Extra Spaces</a:t>
            </a:r>
          </a:p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70" name="Rounded Rectangle 14">
            <a:extLst>
              <a:ext uri="{FF2B5EF4-FFF2-40B4-BE49-F238E27FC236}">
                <a16:creationId xmlns:a16="http://schemas.microsoft.com/office/drawing/2014/main" id="{BAE04A90-C525-F0DE-EDFA-5C48A8802821}"/>
              </a:ext>
            </a:extLst>
          </p:cNvPr>
          <p:cNvSpPr/>
          <p:nvPr/>
        </p:nvSpPr>
        <p:spPr>
          <a:xfrm>
            <a:off x="7794362" y="1920240"/>
            <a:ext cx="3407038" cy="370232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Missing Value Check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72" name="Rounded Rectangle 14">
            <a:extLst>
              <a:ext uri="{FF2B5EF4-FFF2-40B4-BE49-F238E27FC236}">
                <a16:creationId xmlns:a16="http://schemas.microsoft.com/office/drawing/2014/main" id="{D75C9991-1862-7109-2C7C-7211AFAF5DAC}"/>
              </a:ext>
            </a:extLst>
          </p:cNvPr>
          <p:cNvSpPr/>
          <p:nvPr/>
        </p:nvSpPr>
        <p:spPr>
          <a:xfrm>
            <a:off x="7797687" y="2534550"/>
            <a:ext cx="3407038" cy="370232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Duplicate Check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74" name="Rounded Rectangle 14">
            <a:extLst>
              <a:ext uri="{FF2B5EF4-FFF2-40B4-BE49-F238E27FC236}">
                <a16:creationId xmlns:a16="http://schemas.microsoft.com/office/drawing/2014/main" id="{783694B0-CD28-0AEF-C91C-40DAAB236149}"/>
              </a:ext>
            </a:extLst>
          </p:cNvPr>
          <p:cNvSpPr/>
          <p:nvPr/>
        </p:nvSpPr>
        <p:spPr>
          <a:xfrm>
            <a:off x="7816810" y="3216552"/>
            <a:ext cx="3407038" cy="370232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Remove Duplicate Records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76" name="Rounded Rectangle 14">
            <a:extLst>
              <a:ext uri="{FF2B5EF4-FFF2-40B4-BE49-F238E27FC236}">
                <a16:creationId xmlns:a16="http://schemas.microsoft.com/office/drawing/2014/main" id="{B1B02D43-E847-02A1-54C0-C9D86CDDDCB5}"/>
              </a:ext>
            </a:extLst>
          </p:cNvPr>
          <p:cNvSpPr/>
          <p:nvPr/>
        </p:nvSpPr>
        <p:spPr>
          <a:xfrm>
            <a:off x="7782891" y="739773"/>
            <a:ext cx="3407038" cy="370232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Raw Dataset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78" name="Rounded Rectangle 14">
            <a:extLst>
              <a:ext uri="{FF2B5EF4-FFF2-40B4-BE49-F238E27FC236}">
                <a16:creationId xmlns:a16="http://schemas.microsoft.com/office/drawing/2014/main" id="{2F2D981D-E713-5182-C6A2-CD8D4DE98B05}"/>
              </a:ext>
            </a:extLst>
          </p:cNvPr>
          <p:cNvSpPr/>
          <p:nvPr/>
        </p:nvSpPr>
        <p:spPr>
          <a:xfrm>
            <a:off x="7794362" y="4449306"/>
            <a:ext cx="3407038" cy="370232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Remove Extra Spaces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80" name="Rounded Rectangle 14">
            <a:extLst>
              <a:ext uri="{FF2B5EF4-FFF2-40B4-BE49-F238E27FC236}">
                <a16:creationId xmlns:a16="http://schemas.microsoft.com/office/drawing/2014/main" id="{99EF3398-9F06-F7F2-D688-ED12ED691417}"/>
              </a:ext>
            </a:extLst>
          </p:cNvPr>
          <p:cNvSpPr/>
          <p:nvPr/>
        </p:nvSpPr>
        <p:spPr>
          <a:xfrm>
            <a:off x="7782891" y="5084638"/>
            <a:ext cx="3407038" cy="370232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Clean Dataset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82" name="Rounded Rectangle 14">
            <a:extLst>
              <a:ext uri="{FF2B5EF4-FFF2-40B4-BE49-F238E27FC236}">
                <a16:creationId xmlns:a16="http://schemas.microsoft.com/office/drawing/2014/main" id="{0E6719CC-E9E6-5AD0-163F-416FC8B3ABCD}"/>
              </a:ext>
            </a:extLst>
          </p:cNvPr>
          <p:cNvSpPr/>
          <p:nvPr/>
        </p:nvSpPr>
        <p:spPr>
          <a:xfrm>
            <a:off x="7772731" y="5709284"/>
            <a:ext cx="3407038" cy="370232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ptos" panose="020B0004020202020204" pitchFamily="34" charset="0"/>
              </a:rPr>
              <a:t>NLP Processing</a:t>
            </a:r>
            <a:endParaRPr sz="12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F0E2294-CEE0-5791-E164-F01EFDF7936D}"/>
              </a:ext>
            </a:extLst>
          </p:cNvPr>
          <p:cNvCxnSpPr>
            <a:cxnSpLocks/>
          </p:cNvCxnSpPr>
          <p:nvPr/>
        </p:nvCxnSpPr>
        <p:spPr>
          <a:xfrm>
            <a:off x="9486410" y="1106511"/>
            <a:ext cx="0" cy="246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52929F0-C24D-22C3-312F-4D212FEFE5F7}"/>
              </a:ext>
            </a:extLst>
          </p:cNvPr>
          <p:cNvCxnSpPr>
            <a:cxnSpLocks/>
          </p:cNvCxnSpPr>
          <p:nvPr/>
        </p:nvCxnSpPr>
        <p:spPr>
          <a:xfrm>
            <a:off x="9486410" y="1673439"/>
            <a:ext cx="0" cy="246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63C16DF-D0B8-8246-78AD-36F02312E8F6}"/>
              </a:ext>
            </a:extLst>
          </p:cNvPr>
          <p:cNvCxnSpPr>
            <a:cxnSpLocks/>
          </p:cNvCxnSpPr>
          <p:nvPr/>
        </p:nvCxnSpPr>
        <p:spPr>
          <a:xfrm>
            <a:off x="9476250" y="2308136"/>
            <a:ext cx="0" cy="246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A38BA15-7A5B-EB60-914D-07FE43A486AF}"/>
              </a:ext>
            </a:extLst>
          </p:cNvPr>
          <p:cNvCxnSpPr>
            <a:cxnSpLocks/>
          </p:cNvCxnSpPr>
          <p:nvPr/>
        </p:nvCxnSpPr>
        <p:spPr>
          <a:xfrm>
            <a:off x="9462525" y="2942964"/>
            <a:ext cx="0" cy="246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BCDAA16-E1DF-A721-CC1D-A432A716035E}"/>
              </a:ext>
            </a:extLst>
          </p:cNvPr>
          <p:cNvCxnSpPr>
            <a:cxnSpLocks/>
          </p:cNvCxnSpPr>
          <p:nvPr/>
        </p:nvCxnSpPr>
        <p:spPr>
          <a:xfrm>
            <a:off x="9462525" y="3586784"/>
            <a:ext cx="0" cy="27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67D20C1-5DDF-13D3-125E-6E03E37803A7}"/>
              </a:ext>
            </a:extLst>
          </p:cNvPr>
          <p:cNvCxnSpPr>
            <a:cxnSpLocks/>
          </p:cNvCxnSpPr>
          <p:nvPr/>
        </p:nvCxnSpPr>
        <p:spPr>
          <a:xfrm>
            <a:off x="9462525" y="4205834"/>
            <a:ext cx="0" cy="246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DCCC1F2-111E-DE6D-F3A2-129306F82B45}"/>
              </a:ext>
            </a:extLst>
          </p:cNvPr>
          <p:cNvCxnSpPr>
            <a:cxnSpLocks/>
          </p:cNvCxnSpPr>
          <p:nvPr/>
        </p:nvCxnSpPr>
        <p:spPr>
          <a:xfrm>
            <a:off x="9462525" y="4819538"/>
            <a:ext cx="0" cy="246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148496E-B278-CB93-A9EC-93736F81E936}"/>
              </a:ext>
            </a:extLst>
          </p:cNvPr>
          <p:cNvCxnSpPr>
            <a:cxnSpLocks/>
          </p:cNvCxnSpPr>
          <p:nvPr/>
        </p:nvCxnSpPr>
        <p:spPr>
          <a:xfrm>
            <a:off x="9452365" y="5463859"/>
            <a:ext cx="0" cy="246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3" y="8618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Understanding the working dataset before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1600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12082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8C2"/>
                </a:solidFill>
                <a:latin typeface="Aptos"/>
              </a:defRPr>
            </a:pPr>
            <a:r>
              <a:rPr lang="en-US" dirty="0"/>
              <a:t>2,500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67080"/>
                </a:solidFill>
                <a:latin typeface="Aptos"/>
              </a:defRPr>
            </a:pPr>
            <a:r>
              <a:t>EDA / working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371600"/>
            <a:ext cx="1600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1463040"/>
            <a:ext cx="5950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8C2"/>
                </a:solidFill>
                <a:latin typeface="Aptos"/>
              </a:defRPr>
            </a:pPr>
            <a:r>
              <a:rPr lang="en-US" dirty="0"/>
              <a:t>30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2514600" y="199339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67080"/>
                </a:solidFill>
                <a:latin typeface="Aptos"/>
              </a:defRPr>
            </a:pPr>
            <a:r>
              <a:t>Unique job titles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9748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697480"/>
            <a:ext cx="54864" cy="100584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788920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15468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Missing-value and duplicate checks were performed before downstream modeling.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" y="3886200"/>
            <a:ext cx="54864" cy="100584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977639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Text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3434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Description length was analyzed to understand available NLP input.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074920"/>
            <a:ext cx="3383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5074920"/>
            <a:ext cx="54864" cy="91440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5166359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Distribution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5321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Roles, locations and companies were reviewed.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1371600"/>
            <a:ext cx="3429000" cy="214884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60" y="1554480"/>
            <a:ext cx="2971800" cy="1783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rPr dirty="0"/>
              <a:t>EDA SCREENSHOT</a:t>
            </a:r>
            <a:br>
              <a:rPr dirty="0"/>
            </a:br>
            <a:r>
              <a:rPr dirty="0"/>
              <a:t>TOP JOB TITLES / ROLES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1371600"/>
            <a:ext cx="3429000" cy="214884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0" y="1554480"/>
            <a:ext cx="2971800" cy="1783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t>EDA SCREENSHOT</a:t>
            </a:r>
            <a:br/>
            <a:r>
              <a:t>TOP LOCATIONS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703320"/>
            <a:ext cx="3429000" cy="214884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3886200"/>
            <a:ext cx="2971800" cy="1783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rPr dirty="0"/>
              <a:t>EDA SCREENSHOT</a:t>
            </a:r>
            <a:br>
              <a:rPr dirty="0"/>
            </a:br>
            <a:r>
              <a:rPr dirty="0"/>
              <a:t>MISSING / DUPLICATES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3703320"/>
            <a:ext cx="3429000" cy="214884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0" y="3886200"/>
            <a:ext cx="2971800" cy="1783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t>EDA SCREENSHOT</a:t>
            </a:r>
            <a:br/>
            <a:r>
              <a:t>COMPANIES / DESCRIPTION LENGTH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2BAD621-B879-FF16-2191-DAD667216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53312"/>
            <a:ext cx="3453260" cy="21932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4617A6B-5C56-7818-54F0-7BF2CE401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371600"/>
            <a:ext cx="3428999" cy="21287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288B451-6AF1-49D7-513F-BD26B4802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631" y="3718683"/>
            <a:ext cx="3455489" cy="22004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8300998-120D-0F65-5764-838701A83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880" y="3718684"/>
            <a:ext cx="3441136" cy="21488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DC1DCF5-234D-27D5-BE6E-4EEDBDE2DF0A}"/>
              </a:ext>
            </a:extLst>
          </p:cNvPr>
          <p:cNvSpPr txBox="1"/>
          <p:nvPr/>
        </p:nvSpPr>
        <p:spPr>
          <a:xfrm>
            <a:off x="5643716" y="61549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98385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20" b="1">
                <a:solidFill>
                  <a:srgbClr val="162034"/>
                </a:solidFill>
                <a:latin typeface="Aptos"/>
              </a:defRPr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NLP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End-to-End NLP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Multiple techniques were explored across the 19-day development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15862" y="1415514"/>
            <a:ext cx="3429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802310" y="3571023"/>
            <a:ext cx="3429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828939" y="2848939"/>
            <a:ext cx="3429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D200CF-3A5D-B8D0-671E-B814CDBC52E5}"/>
              </a:ext>
            </a:extLst>
          </p:cNvPr>
          <p:cNvSpPr txBox="1"/>
          <p:nvPr/>
        </p:nvSpPr>
        <p:spPr>
          <a:xfrm>
            <a:off x="2704452" y="1471205"/>
            <a:ext cx="2299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ptos" panose="020B0004020202020204" pitchFamily="34" charset="0"/>
              </a:rPr>
              <a:t>Job Description</a:t>
            </a:r>
            <a:endParaRPr lang="en-IN" sz="1400" b="1" dirty="0">
              <a:latin typeface="Aptos" panose="020B00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CC3485-E5CF-7105-8293-23608674FB5D}"/>
              </a:ext>
            </a:extLst>
          </p:cNvPr>
          <p:cNvSpPr txBox="1"/>
          <p:nvPr/>
        </p:nvSpPr>
        <p:spPr>
          <a:xfrm>
            <a:off x="2702094" y="3610034"/>
            <a:ext cx="16518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Skill Normalization</a:t>
            </a:r>
            <a:endParaRPr lang="en-IN" sz="1200" b="1" dirty="0">
              <a:latin typeface="Aptos" panose="020B0004020202020204" pitchFamily="34" charset="0"/>
            </a:endParaRPr>
          </a:p>
        </p:txBody>
      </p:sp>
      <p:sp>
        <p:nvSpPr>
          <p:cNvPr id="61" name="Rounded Rectangle 42">
            <a:extLst>
              <a:ext uri="{FF2B5EF4-FFF2-40B4-BE49-F238E27FC236}">
                <a16:creationId xmlns:a16="http://schemas.microsoft.com/office/drawing/2014/main" id="{5E5341C8-02A8-8F5C-7347-390F554A0331}"/>
              </a:ext>
            </a:extLst>
          </p:cNvPr>
          <p:cNvSpPr/>
          <p:nvPr/>
        </p:nvSpPr>
        <p:spPr>
          <a:xfrm>
            <a:off x="1828939" y="2127832"/>
            <a:ext cx="3429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Aptos" panose="020B0004020202020204" pitchFamily="34" charset="0"/>
            </a:endParaRPr>
          </a:p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3" name="Rounded Rectangle 50">
            <a:extLst>
              <a:ext uri="{FF2B5EF4-FFF2-40B4-BE49-F238E27FC236}">
                <a16:creationId xmlns:a16="http://schemas.microsoft.com/office/drawing/2014/main" id="{203706A3-BE76-11C7-7AE8-DC583C5DABF9}"/>
              </a:ext>
            </a:extLst>
          </p:cNvPr>
          <p:cNvSpPr/>
          <p:nvPr/>
        </p:nvSpPr>
        <p:spPr>
          <a:xfrm>
            <a:off x="1815862" y="4277766"/>
            <a:ext cx="3429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3C944BE-9724-2ED7-3502-A6DC5DBF3576}"/>
              </a:ext>
            </a:extLst>
          </p:cNvPr>
          <p:cNvSpPr txBox="1"/>
          <p:nvPr/>
        </p:nvSpPr>
        <p:spPr>
          <a:xfrm>
            <a:off x="2702094" y="2199690"/>
            <a:ext cx="1570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Text Preprocessing</a:t>
            </a:r>
            <a:endParaRPr lang="en-IN" sz="1200" b="1" dirty="0">
              <a:latin typeface="Aptos" panose="020B00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DD5880-7862-03E1-AA0C-0CC09A1FAAF6}"/>
              </a:ext>
            </a:extLst>
          </p:cNvPr>
          <p:cNvSpPr txBox="1"/>
          <p:nvPr/>
        </p:nvSpPr>
        <p:spPr>
          <a:xfrm>
            <a:off x="2839089" y="2937263"/>
            <a:ext cx="15673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Skill Extraction</a:t>
            </a:r>
            <a:endParaRPr lang="en-IN" sz="1200" b="1" dirty="0">
              <a:latin typeface="Aptos" panose="020B0004020202020204" pitchFamily="34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1323C5B-81C1-8815-C24A-5CCB8008C839}"/>
              </a:ext>
            </a:extLst>
          </p:cNvPr>
          <p:cNvCxnSpPr>
            <a:cxnSpLocks/>
          </p:cNvCxnSpPr>
          <p:nvPr/>
        </p:nvCxnSpPr>
        <p:spPr>
          <a:xfrm>
            <a:off x="3467485" y="1865944"/>
            <a:ext cx="0" cy="27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75AF7B5-D4F2-7C3B-FBE3-5EFEF85C6611}"/>
              </a:ext>
            </a:extLst>
          </p:cNvPr>
          <p:cNvCxnSpPr>
            <a:cxnSpLocks/>
          </p:cNvCxnSpPr>
          <p:nvPr/>
        </p:nvCxnSpPr>
        <p:spPr>
          <a:xfrm>
            <a:off x="3467485" y="2590255"/>
            <a:ext cx="0" cy="27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F977677-63D2-8426-B421-4B16FA65DEF1}"/>
              </a:ext>
            </a:extLst>
          </p:cNvPr>
          <p:cNvCxnSpPr>
            <a:cxnSpLocks/>
          </p:cNvCxnSpPr>
          <p:nvPr/>
        </p:nvCxnSpPr>
        <p:spPr>
          <a:xfrm>
            <a:off x="3467485" y="3291349"/>
            <a:ext cx="0" cy="27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C51C8E2-233C-D8ED-0319-3ADA89A3F343}"/>
              </a:ext>
            </a:extLst>
          </p:cNvPr>
          <p:cNvCxnSpPr>
            <a:cxnSpLocks/>
          </p:cNvCxnSpPr>
          <p:nvPr/>
        </p:nvCxnSpPr>
        <p:spPr>
          <a:xfrm>
            <a:off x="3467485" y="3982503"/>
            <a:ext cx="0" cy="27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30B1C7C-C152-44B2-3425-F70E60B27475}"/>
              </a:ext>
            </a:extLst>
          </p:cNvPr>
          <p:cNvCxnSpPr>
            <a:cxnSpLocks/>
          </p:cNvCxnSpPr>
          <p:nvPr/>
        </p:nvCxnSpPr>
        <p:spPr>
          <a:xfrm>
            <a:off x="3437988" y="4689246"/>
            <a:ext cx="0" cy="27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60285C6-1481-DBF7-AAFC-F06490BC8512}"/>
              </a:ext>
            </a:extLst>
          </p:cNvPr>
          <p:cNvCxnSpPr>
            <a:cxnSpLocks/>
          </p:cNvCxnSpPr>
          <p:nvPr/>
        </p:nvCxnSpPr>
        <p:spPr>
          <a:xfrm>
            <a:off x="3437988" y="5410353"/>
            <a:ext cx="0" cy="2796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1C91FA0-9C1E-1DEB-E6A1-1A3D7D74B9EC}"/>
              </a:ext>
            </a:extLst>
          </p:cNvPr>
          <p:cNvSpPr txBox="1"/>
          <p:nvPr/>
        </p:nvSpPr>
        <p:spPr>
          <a:xfrm>
            <a:off x="2701929" y="4355540"/>
            <a:ext cx="1577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Skill Categorization</a:t>
            </a:r>
            <a:endParaRPr lang="en-IN" sz="1200" b="1" dirty="0">
              <a:latin typeface="Aptos" panose="020B0004020202020204" pitchFamily="34" charset="0"/>
            </a:endParaRPr>
          </a:p>
        </p:txBody>
      </p:sp>
      <p:sp>
        <p:nvSpPr>
          <p:cNvPr id="80" name="Rounded Rectangle 50">
            <a:extLst>
              <a:ext uri="{FF2B5EF4-FFF2-40B4-BE49-F238E27FC236}">
                <a16:creationId xmlns:a16="http://schemas.microsoft.com/office/drawing/2014/main" id="{468CB4DC-9F21-C6A2-2DE1-56119F0CEF43}"/>
              </a:ext>
            </a:extLst>
          </p:cNvPr>
          <p:cNvSpPr/>
          <p:nvPr/>
        </p:nvSpPr>
        <p:spPr>
          <a:xfrm>
            <a:off x="1815862" y="4998873"/>
            <a:ext cx="3429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2" name="Rounded Rectangle 50">
            <a:extLst>
              <a:ext uri="{FF2B5EF4-FFF2-40B4-BE49-F238E27FC236}">
                <a16:creationId xmlns:a16="http://schemas.microsoft.com/office/drawing/2014/main" id="{F59AC793-2554-DAA4-71DD-D6CF8AD18415}"/>
              </a:ext>
            </a:extLst>
          </p:cNvPr>
          <p:cNvSpPr/>
          <p:nvPr/>
        </p:nvSpPr>
        <p:spPr>
          <a:xfrm>
            <a:off x="1802310" y="5690027"/>
            <a:ext cx="34290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1A16891-CFCE-2166-442E-A65222C5D682}"/>
              </a:ext>
            </a:extLst>
          </p:cNvPr>
          <p:cNvSpPr txBox="1"/>
          <p:nvPr/>
        </p:nvSpPr>
        <p:spPr>
          <a:xfrm>
            <a:off x="2701929" y="5087640"/>
            <a:ext cx="1577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Model Evaluation</a:t>
            </a:r>
            <a:endParaRPr lang="en-IN" sz="1200" b="1" dirty="0">
              <a:latin typeface="Aptos" panose="020B00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3477CB0-C2A7-F1A1-202D-8C994C4D780B}"/>
              </a:ext>
            </a:extLst>
          </p:cNvPr>
          <p:cNvSpPr txBox="1"/>
          <p:nvPr/>
        </p:nvSpPr>
        <p:spPr>
          <a:xfrm>
            <a:off x="2788920" y="5743824"/>
            <a:ext cx="1781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ptos" panose="020B0004020202020204" pitchFamily="34" charset="0"/>
              </a:rPr>
              <a:t>Skill Analysis</a:t>
            </a:r>
            <a:endParaRPr lang="en-IN" sz="1200" b="1" dirty="0">
              <a:latin typeface="Aptos" panose="020B0004020202020204" pitchFamily="34" charset="0"/>
            </a:endParaRPr>
          </a:p>
        </p:txBody>
      </p:sp>
      <p:sp>
        <p:nvSpPr>
          <p:cNvPr id="86" name="Rounded Rectangle 42">
            <a:extLst>
              <a:ext uri="{FF2B5EF4-FFF2-40B4-BE49-F238E27FC236}">
                <a16:creationId xmlns:a16="http://schemas.microsoft.com/office/drawing/2014/main" id="{B9151D20-C5FD-97BF-683C-D106F284EE22}"/>
              </a:ext>
            </a:extLst>
          </p:cNvPr>
          <p:cNvSpPr/>
          <p:nvPr/>
        </p:nvSpPr>
        <p:spPr>
          <a:xfrm>
            <a:off x="6058224" y="2523679"/>
            <a:ext cx="3429000" cy="990721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8" name="Rounded Rectangle 42">
            <a:extLst>
              <a:ext uri="{FF2B5EF4-FFF2-40B4-BE49-F238E27FC236}">
                <a16:creationId xmlns:a16="http://schemas.microsoft.com/office/drawing/2014/main" id="{5A9E49BA-1E60-5A99-9816-90DE9818B1D1}"/>
              </a:ext>
            </a:extLst>
          </p:cNvPr>
          <p:cNvSpPr/>
          <p:nvPr/>
        </p:nvSpPr>
        <p:spPr>
          <a:xfrm>
            <a:off x="6057900" y="3796633"/>
            <a:ext cx="3429000" cy="990719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algn="ctr"/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0" name="Rounded Rectangle 50">
            <a:extLst>
              <a:ext uri="{FF2B5EF4-FFF2-40B4-BE49-F238E27FC236}">
                <a16:creationId xmlns:a16="http://schemas.microsoft.com/office/drawing/2014/main" id="{CD33F2B4-9B01-A548-DBF2-60A6D48082F5}"/>
              </a:ext>
            </a:extLst>
          </p:cNvPr>
          <p:cNvSpPr/>
          <p:nvPr/>
        </p:nvSpPr>
        <p:spPr>
          <a:xfrm>
            <a:off x="6057900" y="1367097"/>
            <a:ext cx="3429648" cy="976936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6779377-6ABD-1967-26DB-52E7A2487B00}"/>
              </a:ext>
            </a:extLst>
          </p:cNvPr>
          <p:cNvSpPr txBox="1"/>
          <p:nvPr/>
        </p:nvSpPr>
        <p:spPr>
          <a:xfrm>
            <a:off x="6133452" y="1435353"/>
            <a:ext cx="208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Preprocessing</a:t>
            </a:r>
            <a:endParaRPr lang="en-IN" sz="2000" b="1" dirty="0">
              <a:latin typeface="Aptos" panose="020B00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DED142-1767-DD74-051D-67FA4054F6EE}"/>
              </a:ext>
            </a:extLst>
          </p:cNvPr>
          <p:cNvSpPr txBox="1"/>
          <p:nvPr/>
        </p:nvSpPr>
        <p:spPr>
          <a:xfrm>
            <a:off x="6202957" y="1850168"/>
            <a:ext cx="2991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" panose="020B0004020202020204" pitchFamily="34" charset="0"/>
              </a:rPr>
              <a:t>Tokenization   • sentence segmentation              • stopwords • lowercase • lemmatization</a:t>
            </a:r>
          </a:p>
          <a:p>
            <a:endParaRPr lang="en-IN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6165D93-26EE-FBCB-1590-99DF7B166BBA}"/>
              </a:ext>
            </a:extLst>
          </p:cNvPr>
          <p:cNvSpPr txBox="1"/>
          <p:nvPr/>
        </p:nvSpPr>
        <p:spPr>
          <a:xfrm>
            <a:off x="6310429" y="3049865"/>
            <a:ext cx="277649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Aptos" panose="020B0004020202020204" pitchFamily="34" charset="0"/>
              </a:rPr>
              <a:t>TF-IDF • unigrams • bigrams • trigrams</a:t>
            </a:r>
          </a:p>
          <a:p>
            <a:endParaRPr lang="en-IN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A677121-C019-2147-184E-19DB356E0DF0}"/>
              </a:ext>
            </a:extLst>
          </p:cNvPr>
          <p:cNvSpPr txBox="1"/>
          <p:nvPr/>
        </p:nvSpPr>
        <p:spPr>
          <a:xfrm>
            <a:off x="6198230" y="2636117"/>
            <a:ext cx="25268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Feature</a:t>
            </a:r>
            <a:endParaRPr lang="en-IN" sz="2000" b="1" dirty="0">
              <a:latin typeface="Aptos" panose="020B00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0936E5C-C578-08D7-C62A-1D121B71261B}"/>
              </a:ext>
            </a:extLst>
          </p:cNvPr>
          <p:cNvSpPr txBox="1"/>
          <p:nvPr/>
        </p:nvSpPr>
        <p:spPr>
          <a:xfrm>
            <a:off x="6178414" y="3862505"/>
            <a:ext cx="2239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" panose="020B0004020202020204" pitchFamily="34" charset="0"/>
              </a:rPr>
              <a:t>Semantic</a:t>
            </a:r>
            <a:endParaRPr lang="en-IN" sz="2000" b="1" dirty="0">
              <a:latin typeface="Aptos" panose="020B00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4C4C4A3-A19F-EB09-3BF0-FFBCFE4E7922}"/>
              </a:ext>
            </a:extLst>
          </p:cNvPr>
          <p:cNvSpPr txBox="1"/>
          <p:nvPr/>
        </p:nvSpPr>
        <p:spPr>
          <a:xfrm>
            <a:off x="6202957" y="4270035"/>
            <a:ext cx="23466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ptos" panose="020B0004020202020204" pitchFamily="34" charset="0"/>
              </a:rPr>
              <a:t>Embeddings • cosine similarity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RULE-BASED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Rule-Based Skill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Transparent, fast and explainable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54864" cy="96012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508760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Skill taxonomy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74519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Canonical skill + category + aliases / synonyms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6032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560320"/>
            <a:ext cx="54864" cy="96012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651760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Dictionary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017520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Checks whether known skills occur in the job-description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03320"/>
            <a:ext cx="32918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54864" cy="96012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794759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Regex + phrase matching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160520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Handles controlled patterns and multi-word technical skills.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846320"/>
            <a:ext cx="3291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4846320"/>
            <a:ext cx="54864" cy="914400"/>
          </a:xfrm>
          <a:prstGeom prst="rect">
            <a:avLst/>
          </a:prstGeom>
          <a:solidFill>
            <a:srgbClr val="B4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937759"/>
            <a:ext cx="3017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3035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Performance depends strongly on taxonomy coverage.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1417320"/>
            <a:ext cx="32461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60520" y="1417320"/>
            <a:ext cx="54864" cy="434340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1508760"/>
            <a:ext cx="2971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Normalization 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1965960"/>
            <a:ext cx="2743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Python3   →   Python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Python 3   →   Python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Python programming   →   Python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PowerBI   →   Power BI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Power-BI   →   Power BI</a:t>
            </a:r>
          </a:p>
          <a:p>
            <a:pPr>
              <a:spcAft>
                <a:spcPts val="10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Postgres   →   PostgreSQL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1417320"/>
            <a:ext cx="3931920" cy="434340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1600200"/>
            <a:ext cx="3474720" cy="39776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rPr dirty="0"/>
              <a:t>SCREENSHOT PLACEHOLDER</a:t>
            </a:r>
            <a:br>
              <a:rPr dirty="0"/>
            </a:br>
            <a:r>
              <a:rPr dirty="0"/>
              <a:t>INSERT ORIGINAL RULE / REGEX /</a:t>
            </a:r>
            <a:br>
              <a:rPr dirty="0"/>
            </a:br>
            <a:r>
              <a:rPr dirty="0"/>
              <a:t>PHRASE MATCHER EVIDENCE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74C2560-6F3A-361A-A6AD-740C944CA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536" y="1362457"/>
            <a:ext cx="4263661" cy="43982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Machine Learning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TF-IDF is the feature representation; Logistic Regression is the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63040"/>
            <a:ext cx="4800600" cy="67437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90472"/>
            <a:ext cx="4617720" cy="61950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62034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3220" y="2123694"/>
            <a:ext cx="18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B68C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28850"/>
            <a:ext cx="4800600" cy="67437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256282"/>
            <a:ext cx="4617720" cy="61950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62034"/>
                </a:solidFill>
                <a:latin typeface="Aptos"/>
              </a:defRPr>
            </a:pPr>
            <a:r>
              <a:t>TF-IDF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3220" y="2889503"/>
            <a:ext cx="18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B68C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994660"/>
            <a:ext cx="4800600" cy="67437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22092"/>
            <a:ext cx="4617720" cy="61950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62034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3220" y="3655314"/>
            <a:ext cx="18288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B68C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60470"/>
            <a:ext cx="4800600" cy="67437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92622" y="3951461"/>
            <a:ext cx="2004075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62034"/>
                </a:solidFill>
                <a:latin typeface="Aptos"/>
              </a:defRPr>
            </a:pPr>
            <a:r>
              <a:rPr lang="en-US" dirty="0"/>
              <a:t>4 </a:t>
            </a:r>
            <a:r>
              <a:rPr dirty="0"/>
              <a:t>PROJECT 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46304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1554480"/>
            <a:ext cx="100540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68C2"/>
                </a:solidFill>
                <a:latin typeface="Aptos"/>
              </a:defRPr>
            </a:pPr>
            <a:r>
              <a:rPr lang="en-US" dirty="0"/>
              <a:t>2525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943600" y="208483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67080"/>
                </a:solidFill>
                <a:latin typeface="Aptos"/>
              </a:defRPr>
            </a:pPr>
            <a:r>
              <a:t>Labeled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46304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1554480"/>
            <a:ext cx="15868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B68C2"/>
                </a:solidFill>
                <a:latin typeface="Aptos"/>
              </a:defRPr>
            </a:pPr>
            <a:r>
              <a:rPr lang="en-US" sz="2400" dirty="0"/>
              <a:t>2020</a:t>
            </a:r>
            <a:r>
              <a:rPr sz="2400" dirty="0"/>
              <a:t> / </a:t>
            </a:r>
            <a:r>
              <a:rPr lang="en-US" sz="2400" dirty="0"/>
              <a:t>505</a:t>
            </a:r>
            <a:endParaRPr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7955280" y="208483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67080"/>
                </a:solidFill>
                <a:latin typeface="Aptos"/>
              </a:defRPr>
            </a:pPr>
            <a:r>
              <a:t>Train /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46304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66960" y="1554480"/>
            <a:ext cx="140615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A7D5A"/>
                </a:solidFill>
                <a:latin typeface="Aptos"/>
              </a:defRPr>
            </a:pPr>
            <a:r>
              <a:rPr lang="en-IN" sz="3200" b="1" dirty="0">
                <a:latin typeface="Aptos" panose="020B0004020202020204" pitchFamily="34" charset="0"/>
              </a:rPr>
              <a:t>0.9793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9966960" y="2084832"/>
            <a:ext cx="98135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67080"/>
                </a:solidFill>
                <a:latin typeface="Aptos"/>
              </a:defRPr>
            </a:pPr>
            <a:r>
              <a:rPr lang="en-US" dirty="0"/>
              <a:t>ML </a:t>
            </a:r>
            <a:r>
              <a:rPr dirty="0"/>
              <a:t> accuracy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2880360"/>
            <a:ext cx="1691640" cy="475488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52159" y="299008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034"/>
                </a:solidFill>
                <a:latin typeface="Aptos"/>
              </a:defRPr>
            </a:pPr>
            <a:r>
              <a:t>SKILL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2880360"/>
            <a:ext cx="1691640" cy="475488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0" y="299008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034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46920" y="2880360"/>
            <a:ext cx="1691640" cy="475488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92640" y="2990088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034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3566160"/>
            <a:ext cx="1691640" cy="475488"/>
          </a:xfrm>
          <a:prstGeom prst="roundRect">
            <a:avLst/>
          </a:prstGeom>
          <a:solidFill>
            <a:srgbClr val="EBF3FC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52159" y="3675887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034"/>
                </a:solidFill>
                <a:latin typeface="Aptos"/>
              </a:defRPr>
            </a:pPr>
            <a:r>
              <a:t>BI_TOOL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892040"/>
            <a:ext cx="10927080" cy="123444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Transformer-Based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A pretrained BERT-NER model was evaluated as a qualitative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463040"/>
            <a:ext cx="3063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828800"/>
            <a:ext cx="30632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dslim/bert-base-NER</a:t>
            </a:r>
            <a:br/>
            <a:r>
              <a:t>Aggregation: simple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517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651760"/>
            <a:ext cx="54864" cy="105156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743200"/>
            <a:ext cx="3063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108960"/>
            <a:ext cx="30632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Test how a general-purpose NER model handles technical terms in job descriptions.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3192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931920"/>
            <a:ext cx="54864" cy="1051560"/>
          </a:xfrm>
          <a:prstGeom prst="rect">
            <a:avLst/>
          </a:prstGeom>
          <a:solidFill>
            <a:srgbClr val="B47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023359"/>
            <a:ext cx="3063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Critical 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389120"/>
            <a:ext cx="30632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Pretrained baseline — not fine-tuned for project-specific skill categories.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371600"/>
            <a:ext cx="3337560" cy="1828800"/>
          </a:xfrm>
          <a:prstGeom prst="round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60" y="1371600"/>
            <a:ext cx="54864" cy="182880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16552" y="1463040"/>
            <a:ext cx="3063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Example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1828800"/>
            <a:ext cx="30632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A34"/>
                </a:solidFill>
                <a:latin typeface="Aptos"/>
              </a:defRPr>
            </a:pPr>
            <a:r>
              <a:t>“Experience with Python, SQL and AWS.”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429000"/>
            <a:ext cx="3337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3429000"/>
            <a:ext cx="54864" cy="155448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16552" y="3520440"/>
            <a:ext cx="3063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Observed concept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886200"/>
            <a:ext cx="3063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  <a:latin typeface="Aptos"/>
              </a:defRPr>
            </a:pPr>
            <a:r>
              <a:t>Python → MISC</a:t>
            </a:r>
            <a:br/>
            <a:r>
              <a:t>SQL → MISC</a:t>
            </a:r>
            <a:br/>
            <a:r>
              <a:t>AWS → MISC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1371600"/>
            <a:ext cx="36576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09560" y="1371600"/>
            <a:ext cx="54864" cy="3611880"/>
          </a:xfrm>
          <a:prstGeom prst="rect">
            <a:avLst/>
          </a:prstGeom>
          <a:solidFill>
            <a:srgbClr val="2A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74152" y="146304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4152" y="1828800"/>
            <a:ext cx="3383280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Project-specific categories can distinguish technical concepts more directly.</a:t>
            </a:r>
            <a:br/>
            <a:br/>
            <a:r>
              <a:t>Python → SKILL</a:t>
            </a:r>
            <a:br/>
            <a:r>
              <a:t>SQL → SKILL / DATABASE (depending on taxonomy)</a:t>
            </a:r>
            <a:br/>
            <a:r>
              <a:t>AWS → CLOUD_PLATFORM</a:t>
            </a:r>
            <a:br/>
            <a:r>
              <a:t>Docker → TOOL</a:t>
            </a:r>
            <a:br/>
            <a:r>
              <a:t>Kubernetes → TECHNOLOGY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9560" y="5212080"/>
            <a:ext cx="1143000" cy="91440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0" y="5394960"/>
            <a:ext cx="685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t>BERT</a:t>
            </a:r>
            <a:br/>
            <a: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5212080"/>
            <a:ext cx="1143000" cy="91440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0" y="5394960"/>
            <a:ext cx="685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t>BERT</a:t>
            </a:r>
            <a:br/>
            <a: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69880" y="5212080"/>
            <a:ext cx="1097280" cy="91440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98480" y="5394960"/>
            <a:ext cx="640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t>BERT</a:t>
            </a:r>
            <a:br/>
            <a: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Model Evaluation &amp;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657600" cy="530352"/>
          </a:xfrm>
          <a:prstGeom prst="rect">
            <a:avLst/>
          </a:prstGeom>
          <a:solidFill>
            <a:srgbClr val="16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45336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1417320" cy="530352"/>
          </a:xfrm>
          <a:prstGeom prst="rect">
            <a:avLst/>
          </a:prstGeom>
          <a:solidFill>
            <a:srgbClr val="16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59" y="1545336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59" y="1417320"/>
            <a:ext cx="1417320" cy="530352"/>
          </a:xfrm>
          <a:prstGeom prst="rect">
            <a:avLst/>
          </a:prstGeom>
          <a:solidFill>
            <a:srgbClr val="16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79" y="1545336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79" y="1417320"/>
            <a:ext cx="1417320" cy="530352"/>
          </a:xfrm>
          <a:prstGeom prst="rect">
            <a:avLst/>
          </a:prstGeom>
          <a:solidFill>
            <a:srgbClr val="16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599" y="1545336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417320"/>
            <a:ext cx="1417320" cy="530352"/>
          </a:xfrm>
          <a:prstGeom prst="rect">
            <a:avLst/>
          </a:prstGeom>
          <a:solidFill>
            <a:srgbClr val="16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545336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47672"/>
            <a:ext cx="36576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066543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t>Dictionary Matching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947672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1810" y="2066543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0.9529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5623559" y="1947672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49130" y="2066543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0.9595</a:t>
            </a: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7040879" y="1947672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450" y="2066543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0.9782</a:t>
            </a: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8458200" y="1947672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83771" y="2066543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0.9678</a:t>
            </a:r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548640" y="2523744"/>
            <a:ext cx="36576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642615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t>Regex Matching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2523744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31810" y="2642615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0.9870</a:t>
            </a:r>
            <a:endParaRPr dirty="0"/>
          </a:p>
        </p:txBody>
      </p:sp>
      <p:sp>
        <p:nvSpPr>
          <p:cNvPr id="33" name="Rectangle 32"/>
          <p:cNvSpPr/>
          <p:nvPr/>
        </p:nvSpPr>
        <p:spPr>
          <a:xfrm>
            <a:off x="5623559" y="2523744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49130" y="2642615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0.9782</a:t>
            </a:r>
            <a:endParaRPr dirty="0"/>
          </a:p>
        </p:txBody>
      </p:sp>
      <p:sp>
        <p:nvSpPr>
          <p:cNvPr id="35" name="Rectangle 34"/>
          <p:cNvSpPr/>
          <p:nvPr/>
        </p:nvSpPr>
        <p:spPr>
          <a:xfrm>
            <a:off x="7040879" y="2523744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66450" y="2642615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0.9782</a:t>
            </a: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8458200" y="2523744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83771" y="2665476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0.9782</a:t>
            </a:r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548640" y="3099815"/>
            <a:ext cx="36576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3218687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t>Custom NER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099815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31810" y="3218687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0.7316</a:t>
            </a:r>
            <a:endParaRPr dirty="0"/>
          </a:p>
        </p:txBody>
      </p:sp>
      <p:sp>
        <p:nvSpPr>
          <p:cNvPr id="43" name="Rectangle 42"/>
          <p:cNvSpPr/>
          <p:nvPr/>
        </p:nvSpPr>
        <p:spPr>
          <a:xfrm>
            <a:off x="5623559" y="3099815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49130" y="3218687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0.9782</a:t>
            </a:r>
            <a:endParaRPr dirty="0"/>
          </a:p>
        </p:txBody>
      </p:sp>
      <p:sp>
        <p:nvSpPr>
          <p:cNvPr id="45" name="Rectangle 44"/>
          <p:cNvSpPr/>
          <p:nvPr/>
        </p:nvSpPr>
        <p:spPr>
          <a:xfrm>
            <a:off x="7040879" y="3099815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66450" y="3218687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0.7317</a:t>
            </a:r>
            <a:endParaRPr dirty="0"/>
          </a:p>
        </p:txBody>
      </p:sp>
      <p:sp>
        <p:nvSpPr>
          <p:cNvPr id="47" name="Rectangle 46"/>
          <p:cNvSpPr/>
          <p:nvPr/>
        </p:nvSpPr>
        <p:spPr>
          <a:xfrm>
            <a:off x="8458200" y="3099815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83772" y="3218687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0.8265</a:t>
            </a:r>
            <a:endParaRPr dirty="0"/>
          </a:p>
        </p:txBody>
      </p:sp>
      <p:sp>
        <p:nvSpPr>
          <p:cNvPr id="49" name="Rectangle 48"/>
          <p:cNvSpPr/>
          <p:nvPr/>
        </p:nvSpPr>
        <p:spPr>
          <a:xfrm>
            <a:off x="547838" y="3666744"/>
            <a:ext cx="3657600" cy="576072"/>
          </a:xfrm>
          <a:prstGeom prst="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ML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206240" y="3675887"/>
            <a:ext cx="1417320" cy="576072"/>
          </a:xfrm>
          <a:prstGeom prst="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31009" y="3794759"/>
            <a:ext cx="5677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034"/>
                </a:solidFill>
                <a:latin typeface="Aptos"/>
              </a:defRPr>
            </a:pPr>
            <a:r>
              <a:rPr lang="en-US" dirty="0"/>
              <a:t>0.9793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59" y="3675887"/>
            <a:ext cx="1417320" cy="576072"/>
          </a:xfrm>
          <a:prstGeom prst="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48329" y="3794759"/>
            <a:ext cx="5677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034"/>
                </a:solidFill>
                <a:latin typeface="Aptos"/>
              </a:defRPr>
            </a:pPr>
            <a:r>
              <a:rPr lang="en-US" dirty="0"/>
              <a:t>0.9861</a:t>
            </a:r>
            <a:endParaRPr dirty="0"/>
          </a:p>
        </p:txBody>
      </p:sp>
      <p:sp>
        <p:nvSpPr>
          <p:cNvPr id="55" name="Rectangle 54"/>
          <p:cNvSpPr/>
          <p:nvPr/>
        </p:nvSpPr>
        <p:spPr>
          <a:xfrm>
            <a:off x="7040879" y="3675887"/>
            <a:ext cx="1417320" cy="576072"/>
          </a:xfrm>
          <a:prstGeom prst="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65651" y="3794759"/>
            <a:ext cx="5677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034"/>
                </a:solidFill>
                <a:latin typeface="Aptos"/>
              </a:defRPr>
            </a:pPr>
            <a:r>
              <a:rPr lang="en-US" dirty="0"/>
              <a:t>0.9832</a:t>
            </a:r>
            <a:endParaRPr dirty="0"/>
          </a:p>
        </p:txBody>
      </p:sp>
      <p:sp>
        <p:nvSpPr>
          <p:cNvPr id="57" name="Rectangle 56"/>
          <p:cNvSpPr/>
          <p:nvPr/>
        </p:nvSpPr>
        <p:spPr>
          <a:xfrm>
            <a:off x="8458200" y="3675887"/>
            <a:ext cx="1417320" cy="576072"/>
          </a:xfrm>
          <a:prstGeom prst="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37250" y="3801378"/>
            <a:ext cx="5677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62034"/>
                </a:solidFill>
                <a:latin typeface="Aptos"/>
              </a:defRPr>
            </a:pPr>
            <a:r>
              <a:rPr lang="en-US" dirty="0"/>
              <a:t>0.9842</a:t>
            </a:r>
            <a:endParaRPr dirty="0"/>
          </a:p>
        </p:txBody>
      </p:sp>
      <p:sp>
        <p:nvSpPr>
          <p:cNvPr id="59" name="Rectangle 58"/>
          <p:cNvSpPr/>
          <p:nvPr/>
        </p:nvSpPr>
        <p:spPr>
          <a:xfrm>
            <a:off x="548640" y="4251960"/>
            <a:ext cx="365760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091945" y="4370832"/>
            <a:ext cx="5709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IN" dirty="0"/>
              <a:t>TF-IDF 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0" y="4251960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631812" y="4370832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0.9253</a:t>
            </a:r>
            <a:endParaRPr dirty="0"/>
          </a:p>
        </p:txBody>
      </p:sp>
      <p:sp>
        <p:nvSpPr>
          <p:cNvPr id="63" name="Rectangle 62"/>
          <p:cNvSpPr/>
          <p:nvPr/>
        </p:nvSpPr>
        <p:spPr>
          <a:xfrm>
            <a:off x="5623559" y="4251960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49131" y="4402836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0.9589</a:t>
            </a:r>
            <a:endParaRPr dirty="0"/>
          </a:p>
        </p:txBody>
      </p:sp>
      <p:sp>
        <p:nvSpPr>
          <p:cNvPr id="65" name="Rectangle 64"/>
          <p:cNvSpPr/>
          <p:nvPr/>
        </p:nvSpPr>
        <p:spPr>
          <a:xfrm>
            <a:off x="7040879" y="4251960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466451" y="4370832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0.9498</a:t>
            </a:r>
            <a:endParaRPr dirty="0"/>
          </a:p>
        </p:txBody>
      </p:sp>
      <p:sp>
        <p:nvSpPr>
          <p:cNvPr id="67" name="Rectangle 66"/>
          <p:cNvSpPr/>
          <p:nvPr/>
        </p:nvSpPr>
        <p:spPr>
          <a:xfrm>
            <a:off x="8458200" y="4251960"/>
            <a:ext cx="1417320" cy="576072"/>
          </a:xfrm>
          <a:prstGeom prst="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883772" y="4370832"/>
            <a:ext cx="5661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0.9516</a:t>
            </a:r>
            <a:endParaRPr dirty="0"/>
          </a:p>
        </p:txBody>
      </p:sp>
      <p:sp>
        <p:nvSpPr>
          <p:cNvPr id="69" name="Rounded Rectangle 68"/>
          <p:cNvSpPr/>
          <p:nvPr/>
        </p:nvSpPr>
        <p:spPr>
          <a:xfrm>
            <a:off x="548640" y="5074920"/>
            <a:ext cx="7269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48640" y="5074920"/>
            <a:ext cx="54864" cy="914400"/>
          </a:xfrm>
          <a:prstGeom prst="rect">
            <a:avLst/>
          </a:prstGeom>
          <a:solidFill>
            <a:srgbClr val="2A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3232" y="5166359"/>
            <a:ext cx="69951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3232" y="5532120"/>
            <a:ext cx="6995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  <a:latin typeface="Aptos"/>
              </a:defRPr>
            </a:pPr>
            <a:r>
              <a:t>TF-IDF + Logistic Regression produced the strongest directly comparable numerical result on the constructed Day 15 evaluation 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Error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Looking beyond accuracy to understand extraction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4864" cy="658368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46304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034"/>
                </a:solidFill>
                <a:latin typeface="Aptos"/>
              </a:defRPr>
            </a:pPr>
            <a:r>
              <a:t>False Positive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137160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79" y="1371600"/>
            <a:ext cx="54864" cy="658368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872" y="146304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034"/>
                </a:solidFill>
                <a:latin typeface="Aptos"/>
              </a:defRPr>
            </a:pPr>
            <a:r>
              <a:t>False Negative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7160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4864" cy="658368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146304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034"/>
                </a:solidFill>
                <a:latin typeface="Aptos"/>
              </a:defRPr>
            </a:pPr>
            <a:r>
              <a:t>Wrong 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19" y="137160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19" y="1371600"/>
            <a:ext cx="54864" cy="658368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1" y="146304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034"/>
                </a:solidFill>
                <a:latin typeface="Aptos"/>
              </a:defRPr>
            </a:pPr>
            <a:r>
              <a:t>Partial 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24028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2240280"/>
            <a:ext cx="54864" cy="658368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233172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034"/>
                </a:solidFill>
                <a:latin typeface="Aptos"/>
              </a:defRPr>
            </a:pPr>
            <a:r>
              <a:t>Duplicate Skill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79" y="224028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3279" y="2240280"/>
            <a:ext cx="54864" cy="658368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47872" y="233172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034"/>
                </a:solidFill>
                <a:latin typeface="Aptos"/>
              </a:defRPr>
            </a:pPr>
            <a:r>
              <a:t>Unknown Skill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24028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2240280"/>
            <a:ext cx="54864" cy="658368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233172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034"/>
                </a:solidFill>
                <a:latin typeface="Aptos"/>
              </a:defRPr>
            </a:pPr>
            <a:r>
              <a:t>Synonym Problem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224028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961119" y="2240280"/>
            <a:ext cx="54864" cy="658368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25711" y="233172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62034"/>
                </a:solidFill>
                <a:latin typeface="Aptos"/>
              </a:defRPr>
            </a:pPr>
            <a:r>
              <a:t>Spelling Problem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2461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" y="3246120"/>
            <a:ext cx="54864" cy="141732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" y="333756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034"/>
                </a:solidFill>
                <a:latin typeface="Aptos"/>
              </a:defRPr>
            </a:pPr>
            <a:r>
              <a:t>Taxonomy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3703320"/>
            <a:ext cx="22402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PostgreSQL was an important coverage issue.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79" y="32461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83279" y="3246120"/>
            <a:ext cx="54864" cy="141732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47872" y="333756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034"/>
                </a:solidFill>
                <a:latin typeface="Aptos"/>
              </a:defRPr>
            </a:pPr>
            <a:r>
              <a:t>Variation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47872" y="3703320"/>
            <a:ext cx="22402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Duplicate / format differences can affect matching.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2461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3246120"/>
            <a:ext cx="54864" cy="141732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36792" y="333756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034"/>
                </a:solidFill>
                <a:latin typeface="Aptos"/>
              </a:defRPr>
            </a:pPr>
            <a:r>
              <a:t>Synonyms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3703320"/>
            <a:ext cx="22402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Different expressions may refer to the same skill.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1119" y="324612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61119" y="3246120"/>
            <a:ext cx="54864" cy="141732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25711" y="3337560"/>
            <a:ext cx="2240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2034"/>
                </a:solidFill>
                <a:latin typeface="Aptos"/>
              </a:defRPr>
            </a:pPr>
            <a:r>
              <a:t>Labels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25711" y="3703320"/>
            <a:ext cx="22402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32A34"/>
                </a:solidFill>
                <a:latin typeface="Aptos"/>
              </a:defRPr>
            </a:pPr>
            <a:r>
              <a:t>Some original hand-written labels were inaccurate.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320" y="4892040"/>
            <a:ext cx="3246120" cy="1234440"/>
          </a:xfrm>
          <a:prstGeom prst="roundRect">
            <a:avLst/>
          </a:prstGeom>
          <a:solidFill>
            <a:srgbClr val="F4F6F9"/>
          </a:solidFill>
          <a:ln>
            <a:solidFill>
              <a:srgbClr val="BEC6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3920" y="5074920"/>
            <a:ext cx="27889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t>SCREENSHOT PLACEHOLDER</a:t>
            </a:r>
            <a:br/>
            <a:r>
              <a:t>INSERT ORIGINAL ERROR-ANALYSIS</a:t>
            </a:r>
            <a:br/>
            <a:r>
              <a:t>WORKBOOK /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Turning processed skills into business-facing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6446520" cy="45262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667080"/>
                </a:solidFill>
                <a:latin typeface="Aptos"/>
              </a:defRPr>
            </a:pPr>
            <a:r>
              <a:t>INSERT ORIGINAL COMPLETED POWER BI DASHBOARD SCREENSHOT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4206240"/>
            <a:ext cx="3703320" cy="2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>
                <a:solidFill>
                  <a:srgbClr val="232A34"/>
                </a:solidFill>
                <a:latin typeface="Aptos"/>
              </a:defRPr>
            </a:pPr>
            <a:endParaRPr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E2DD7E5-297A-3B4E-E720-4DFF72312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421892"/>
            <a:ext cx="11958320" cy="50886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APPLICATION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Final Web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Production-oriented workflow: taxonomy + regex/aliases + normalization + category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0200" y="1521205"/>
            <a:ext cx="7040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93624" y="1534921"/>
            <a:ext cx="54864" cy="100584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3672" y="1534921"/>
            <a:ext cx="6766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rPr dirty="0"/>
              <a:t>User interaction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672" y="1860804"/>
            <a:ext cx="6766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rPr dirty="0"/>
              <a:t>Paste JD → submit → backend processes → skills detected → normalized → categorized → CSV export.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B50CA496-839A-242E-5215-8B82951BE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9" y="2810307"/>
            <a:ext cx="5889752" cy="351734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CB9414BD-E5CA-E774-F446-5C414173A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042" y="1322641"/>
            <a:ext cx="3984751" cy="248184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4F7474A-CA33-D192-EB72-AE6284203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267" y="4026733"/>
            <a:ext cx="5060613" cy="26201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From raw job-description text to structured technical-skill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307592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16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62034"/>
                </a:solidFill>
                <a:latin typeface="Aptos"/>
              </a:defRPr>
            </a:pPr>
            <a:r>
              <a:t>RAW JD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2057400"/>
            <a:ext cx="128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B68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7672" y="1874519"/>
            <a:ext cx="1307592" cy="658368"/>
          </a:xfrm>
          <a:prstGeom prst="round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93391" y="2057400"/>
            <a:ext cx="1216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62034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3" y="2057400"/>
            <a:ext cx="128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B68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1874519"/>
            <a:ext cx="1307592" cy="658368"/>
          </a:xfrm>
          <a:prstGeom prst="round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38144" y="2057400"/>
            <a:ext cx="1216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62034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057400"/>
            <a:ext cx="128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B68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37176" y="1874519"/>
            <a:ext cx="1307592" cy="658368"/>
          </a:xfrm>
          <a:prstGeom prst="round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2896" y="2057400"/>
            <a:ext cx="1216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62034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057400"/>
            <a:ext cx="128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B68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1874519"/>
            <a:ext cx="1307592" cy="658368"/>
          </a:xfrm>
          <a:prstGeom prst="round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8" y="2057400"/>
            <a:ext cx="1216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62034"/>
                </a:solidFill>
                <a:latin typeface="Aptos"/>
              </a:defRPr>
            </a:pPr>
            <a:r>
              <a:t>CATEGORIZE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057400"/>
            <a:ext cx="128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B68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80" y="1874519"/>
            <a:ext cx="1307592" cy="658368"/>
          </a:xfrm>
          <a:prstGeom prst="round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2057400"/>
            <a:ext cx="1216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62034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057400"/>
            <a:ext cx="128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B68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1432" y="1874519"/>
            <a:ext cx="1307592" cy="658368"/>
          </a:xfrm>
          <a:prstGeom prst="roundRect">
            <a:avLst/>
          </a:prstGeom>
          <a:solidFill>
            <a:srgbClr val="EBF3FC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17152" y="2057400"/>
            <a:ext cx="1216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62034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9024" y="2057400"/>
            <a:ext cx="128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B68C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16184" y="1874519"/>
            <a:ext cx="1307592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61904" y="2057400"/>
            <a:ext cx="12161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62034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306324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94360" y="3063240"/>
            <a:ext cx="54864" cy="201168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" y="3154680"/>
            <a:ext cx="2331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3520440"/>
            <a:ext cx="23317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Dataset understanding</a:t>
            </a:r>
            <a:br/>
            <a:r>
              <a:t>Data cleaning</a:t>
            </a:r>
            <a:br/>
            <a:r>
              <a:t>EDA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306324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83280" y="3063240"/>
            <a:ext cx="54864" cy="201168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47872" y="3154680"/>
            <a:ext cx="2331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NLP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3520440"/>
            <a:ext cx="23317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Preprocessing</a:t>
            </a:r>
            <a:br/>
            <a:r>
              <a:t>Taxonomy + matching</a:t>
            </a:r>
            <a:br/>
            <a:r>
              <a:t>TF-IDF / NER / BERT benchmark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06324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72200" y="3063240"/>
            <a:ext cx="54864" cy="2011680"/>
          </a:xfrm>
          <a:prstGeom prst="rect">
            <a:avLst/>
          </a:prstGeom>
          <a:solidFill>
            <a:srgbClr val="2A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36792" y="3154680"/>
            <a:ext cx="2331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ML + EVALUATION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3520440"/>
            <a:ext cx="23317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t>Logistic Regression</a:t>
            </a:r>
            <a:br/>
            <a:r>
              <a:t>Metrics + confusion matrix</a:t>
            </a:r>
            <a:br/>
            <a:r>
              <a:t>Error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3063240"/>
            <a:ext cx="2606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961120" y="3063240"/>
            <a:ext cx="54864" cy="2011680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25712" y="3154680"/>
            <a:ext cx="2331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034"/>
                </a:solidFill>
                <a:latin typeface="Aptos"/>
              </a:defRPr>
            </a:pPr>
            <a:r>
              <a:t>PRODUCTIZATION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3520440"/>
            <a:ext cx="23317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  <a:latin typeface="Aptos"/>
              </a:defRPr>
            </a:pPr>
            <a:r>
              <a:rPr dirty="0"/>
              <a:t>Normalization</a:t>
            </a:r>
            <a:br>
              <a:rPr dirty="0"/>
            </a:br>
            <a:r>
              <a:rPr dirty="0"/>
              <a:t>Power BI dashboard</a:t>
            </a:r>
            <a:br>
              <a:rPr dirty="0"/>
            </a:br>
            <a:r>
              <a:rPr lang="en-US" dirty="0"/>
              <a:t>Streamlit + Python application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679704" y="5397072"/>
            <a:ext cx="10808208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50" b="1">
                <a:solidFill>
                  <a:srgbClr val="162034"/>
                </a:solidFill>
                <a:latin typeface="Aptos"/>
              </a:defRPr>
            </a:pPr>
            <a:r>
              <a:rPr dirty="0"/>
              <a:t>The project demonstrates the complete path from unstructured job-description text to structured technical-skill information, analytics and a working application.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B6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68C2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09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034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7080"/>
                </a:solidFill>
                <a:latin typeface="Aptos"/>
              </a:defRPr>
            </a:pPr>
            <a:r>
              <a:t>A roadmap from the current system toward broader recruitment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10528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670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080"/>
                </a:solidFill>
                <a:latin typeface="Aptos"/>
              </a:defRPr>
            </a:pPr>
            <a:r>
              <a:t>JOB DESCRIPTION SKILL EXTRACTION • PROJECT DEFENSE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42646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399032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Expand Skill Taxonomy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655064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Emerging technologies, tools and aliases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42646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399032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Larger Evaluation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655064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Professionally annotated data for stronger measurement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194560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229514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2267712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Fine-Tuned Transformer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2523744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Project-specific skill entities and categories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194560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229514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267712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Unknown-Skill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523744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Fuzzy matching + semantic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063239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3163823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3136391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Resume-to-Job 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" y="3392423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Compare job skills with resume skills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63239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19088" y="3163823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136391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Skill-Gap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3392423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Identify missing skills for a role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931920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" y="403250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2728" y="4005072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Candidate Ranking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2728" y="4261104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Rank candidates by skill alignment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931920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9088" y="403250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4005072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Learning Recommendations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4261104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Suggest resources for skill gaps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800600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04088" y="490118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2728" y="4873752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Time-Based Trends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52728" y="5129784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Use reliable dates when available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800600"/>
            <a:ext cx="53492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19088" y="4901184"/>
            <a:ext cx="438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B68C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4873752"/>
            <a:ext cx="20574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62034"/>
                </a:solidFill>
                <a:latin typeface="Aptos"/>
              </a:defRPr>
            </a:pPr>
            <a:r>
              <a:t>Production Improvements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7728" y="5129784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667080"/>
                </a:solidFill>
                <a:latin typeface="Aptos"/>
              </a:defRPr>
            </a:pPr>
            <a:r>
              <a:t>Versioning, monitoring, taxonomy updates, deployment architecture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5815584"/>
            <a:ext cx="1065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32A34"/>
                </a:solidFill>
                <a:latin typeface="Aptos"/>
              </a:defRPr>
            </a:pPr>
            <a:r>
              <a:rPr sz="1400" dirty="0"/>
              <a:t>Current System → Better Taxonomy → Better Models → Larger Evaluation → Resume Matching → Skill Gap → Recruitment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1343</Words>
  <Application>Microsoft Office PowerPoint</Application>
  <PresentationFormat>Widescreen</PresentationFormat>
  <Paragraphs>334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Description Skill Extraction Using Natural Language Processing</dc:title>
  <dc:subject>19-Day NLP, Machine Learning, Analytics and Application Development Project</dc:subject>
  <dc:creator/>
  <cp:keywords/>
  <dc:description>generated using python-pptx</dc:description>
  <cp:lastModifiedBy>Tanuja Holkar</cp:lastModifiedBy>
  <cp:revision>3</cp:revision>
  <dcterms:created xsi:type="dcterms:W3CDTF">2013-01-27T09:14:16Z</dcterms:created>
  <dcterms:modified xsi:type="dcterms:W3CDTF">2026-09-08T05:45:08Z</dcterms:modified>
  <cp:category/>
</cp:coreProperties>
</file>